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558DC4BC-95F6-43FA-9552-FC97C74F24EA}" type="datetimeFigureOut">
              <a:rPr lang="en-IN" smtClean="0"/>
              <a:t>16-04-2026</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1C0CF130-A49F-4A39-9E24-864EC639CE14}" type="slidenum">
              <a:rPr lang="en-IN" smtClean="0"/>
              <a:t>‹#›</a:t>
            </a:fld>
            <a:endParaRPr lang="en-IN"/>
          </a:p>
        </p:txBody>
      </p:sp>
    </p:spTree>
    <p:extLst>
      <p:ext uri="{BB962C8B-B14F-4D97-AF65-F5344CB8AC3E}">
        <p14:creationId xmlns:p14="http://schemas.microsoft.com/office/powerpoint/2010/main" val="3110613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DC4BC-95F6-43FA-9552-FC97C74F24EA}"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0CF130-A49F-4A39-9E24-864EC639CE14}" type="slidenum">
              <a:rPr lang="en-IN" smtClean="0"/>
              <a:t>‹#›</a:t>
            </a:fld>
            <a:endParaRPr lang="en-IN"/>
          </a:p>
        </p:txBody>
      </p:sp>
    </p:spTree>
    <p:extLst>
      <p:ext uri="{BB962C8B-B14F-4D97-AF65-F5344CB8AC3E}">
        <p14:creationId xmlns:p14="http://schemas.microsoft.com/office/powerpoint/2010/main" val="218036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DC4BC-95F6-43FA-9552-FC97C74F24EA}"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0CF130-A49F-4A39-9E24-864EC639CE14}" type="slidenum">
              <a:rPr lang="en-IN" smtClean="0"/>
              <a:t>‹#›</a:t>
            </a:fld>
            <a:endParaRPr lang="en-IN"/>
          </a:p>
        </p:txBody>
      </p:sp>
    </p:spTree>
    <p:extLst>
      <p:ext uri="{BB962C8B-B14F-4D97-AF65-F5344CB8AC3E}">
        <p14:creationId xmlns:p14="http://schemas.microsoft.com/office/powerpoint/2010/main" val="10518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8DC4BC-95F6-43FA-9552-FC97C74F24EA}" type="datetimeFigureOut">
              <a:rPr lang="en-IN" smtClean="0"/>
              <a:t>16-04-2026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0CF130-A49F-4A39-9E24-864EC639CE14}" type="slidenum">
              <a:rPr lang="en-IN" smtClean="0"/>
              <a:t>‹#›</a:t>
            </a:fld>
            <a:endParaRPr lang="en-IN"/>
          </a:p>
        </p:txBody>
      </p:sp>
    </p:spTree>
    <p:extLst>
      <p:ext uri="{BB962C8B-B14F-4D97-AF65-F5344CB8AC3E}">
        <p14:creationId xmlns:p14="http://schemas.microsoft.com/office/powerpoint/2010/main" val="447001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DC4BC-95F6-43FA-9552-FC97C74F24EA}" type="datetimeFigureOut">
              <a:rPr lang="en-IN" smtClean="0"/>
              <a:t>16-04-2026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C0CF130-A49F-4A39-9E24-864EC639CE14}" type="slidenum">
              <a:rPr lang="en-IN" smtClean="0"/>
              <a:t>‹#›</a:t>
            </a:fld>
            <a:endParaRPr lang="en-IN"/>
          </a:p>
        </p:txBody>
      </p:sp>
    </p:spTree>
    <p:extLst>
      <p:ext uri="{BB962C8B-B14F-4D97-AF65-F5344CB8AC3E}">
        <p14:creationId xmlns:p14="http://schemas.microsoft.com/office/powerpoint/2010/main" val="1443120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8DC4BC-95F6-43FA-9552-FC97C74F24EA}" type="datetimeFigureOut">
              <a:rPr lang="en-IN" smtClean="0"/>
              <a:t>16-04-2026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C0CF130-A49F-4A39-9E24-864EC639CE14}" type="slidenum">
              <a:rPr lang="en-IN" smtClean="0"/>
              <a:t>‹#›</a:t>
            </a:fld>
            <a:endParaRPr lang="en-IN"/>
          </a:p>
        </p:txBody>
      </p:sp>
    </p:spTree>
    <p:extLst>
      <p:ext uri="{BB962C8B-B14F-4D97-AF65-F5344CB8AC3E}">
        <p14:creationId xmlns:p14="http://schemas.microsoft.com/office/powerpoint/2010/main" val="3091672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8DC4BC-95F6-43FA-9552-FC97C74F24EA}" type="datetimeFigureOut">
              <a:rPr lang="en-IN" smtClean="0"/>
              <a:t>16-04-2026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C0CF130-A49F-4A39-9E24-864EC639CE14}" type="slidenum">
              <a:rPr lang="en-IN" smtClean="0"/>
              <a:t>‹#›</a:t>
            </a:fld>
            <a:endParaRPr lang="en-IN"/>
          </a:p>
        </p:txBody>
      </p:sp>
    </p:spTree>
    <p:extLst>
      <p:ext uri="{BB962C8B-B14F-4D97-AF65-F5344CB8AC3E}">
        <p14:creationId xmlns:p14="http://schemas.microsoft.com/office/powerpoint/2010/main" val="2926405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8DC4BC-95F6-43FA-9552-FC97C74F24EA}" type="datetimeFigureOut">
              <a:rPr lang="en-IN" smtClean="0"/>
              <a:t>16-04-2026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0CF130-A49F-4A39-9E24-864EC639CE14}" type="slidenum">
              <a:rPr lang="en-IN" smtClean="0"/>
              <a:t>‹#›</a:t>
            </a:fld>
            <a:endParaRPr lang="en-IN"/>
          </a:p>
        </p:txBody>
      </p:sp>
    </p:spTree>
    <p:extLst>
      <p:ext uri="{BB962C8B-B14F-4D97-AF65-F5344CB8AC3E}">
        <p14:creationId xmlns:p14="http://schemas.microsoft.com/office/powerpoint/2010/main" val="436940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8DC4BC-95F6-43FA-9552-FC97C74F24EA}" type="datetimeFigureOut">
              <a:rPr lang="en-IN" smtClean="0"/>
              <a:t>16-04-2026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0CF130-A49F-4A39-9E24-864EC639CE14}" type="slidenum">
              <a:rPr lang="en-IN" smtClean="0"/>
              <a:t>‹#›</a:t>
            </a:fld>
            <a:endParaRPr lang="en-IN"/>
          </a:p>
        </p:txBody>
      </p:sp>
    </p:spTree>
    <p:extLst>
      <p:ext uri="{BB962C8B-B14F-4D97-AF65-F5344CB8AC3E}">
        <p14:creationId xmlns:p14="http://schemas.microsoft.com/office/powerpoint/2010/main" val="1343214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8DC4BC-95F6-43FA-9552-FC97C74F24EA}" type="datetimeFigureOut">
              <a:rPr lang="en-IN" smtClean="0"/>
              <a:t>16-04-2026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0CF130-A49F-4A39-9E24-864EC639CE14}" type="slidenum">
              <a:rPr lang="en-IN" smtClean="0"/>
              <a:t>‹#›</a:t>
            </a:fld>
            <a:endParaRPr lang="en-IN"/>
          </a:p>
        </p:txBody>
      </p:sp>
    </p:spTree>
    <p:extLst>
      <p:ext uri="{BB962C8B-B14F-4D97-AF65-F5344CB8AC3E}">
        <p14:creationId xmlns:p14="http://schemas.microsoft.com/office/powerpoint/2010/main" val="2124810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8DC4BC-95F6-43FA-9552-FC97C74F24EA}" type="datetimeFigureOut">
              <a:rPr lang="en-IN" smtClean="0"/>
              <a:t>16-04-2026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0CF130-A49F-4A39-9E24-864EC639CE14}" type="slidenum">
              <a:rPr lang="en-IN" smtClean="0"/>
              <a:t>‹#›</a:t>
            </a:fld>
            <a:endParaRPr lang="en-IN"/>
          </a:p>
        </p:txBody>
      </p:sp>
    </p:spTree>
    <p:extLst>
      <p:ext uri="{BB962C8B-B14F-4D97-AF65-F5344CB8AC3E}">
        <p14:creationId xmlns:p14="http://schemas.microsoft.com/office/powerpoint/2010/main" val="102839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8DC4BC-95F6-43FA-9552-FC97C74F24EA}" type="datetimeFigureOut">
              <a:rPr lang="en-IN" smtClean="0"/>
              <a:t>16-04-2026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0CF130-A49F-4A39-9E24-864EC639CE14}"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993483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8DC4BC-95F6-43FA-9552-FC97C74F24EA}" type="datetimeFigureOut">
              <a:rPr lang="en-IN" smtClean="0"/>
              <a:t>16-04-2026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0CF130-A49F-4A39-9E24-864EC639CE14}" type="slidenum">
              <a:rPr lang="en-IN" smtClean="0"/>
              <a:t>‹#›</a:t>
            </a:fld>
            <a:endParaRPr lang="en-IN"/>
          </a:p>
        </p:txBody>
      </p:sp>
    </p:spTree>
    <p:extLst>
      <p:ext uri="{BB962C8B-B14F-4D97-AF65-F5344CB8AC3E}">
        <p14:creationId xmlns:p14="http://schemas.microsoft.com/office/powerpoint/2010/main" val="12092204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58DC4BC-95F6-43FA-9552-FC97C74F24EA}" type="datetimeFigureOut">
              <a:rPr lang="en-IN" smtClean="0"/>
              <a:t>16-04-2026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C0CF130-A49F-4A39-9E24-864EC639CE14}" type="slidenum">
              <a:rPr lang="en-IN" smtClean="0"/>
              <a:t>‹#›</a:t>
            </a:fld>
            <a:endParaRPr lang="en-IN"/>
          </a:p>
        </p:txBody>
      </p:sp>
    </p:spTree>
    <p:extLst>
      <p:ext uri="{BB962C8B-B14F-4D97-AF65-F5344CB8AC3E}">
        <p14:creationId xmlns:p14="http://schemas.microsoft.com/office/powerpoint/2010/main" val="10248478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58DC4BC-95F6-43FA-9552-FC97C74F24EA}" type="datetimeFigureOut">
              <a:rPr lang="en-IN" smtClean="0"/>
              <a:t>16-04-2026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C0CF130-A49F-4A39-9E24-864EC639CE14}" type="slidenum">
              <a:rPr lang="en-IN" smtClean="0"/>
              <a:t>‹#›</a:t>
            </a:fld>
            <a:endParaRPr lang="en-IN"/>
          </a:p>
        </p:txBody>
      </p:sp>
    </p:spTree>
    <p:extLst>
      <p:ext uri="{BB962C8B-B14F-4D97-AF65-F5344CB8AC3E}">
        <p14:creationId xmlns:p14="http://schemas.microsoft.com/office/powerpoint/2010/main" val="10716674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DC4BC-95F6-43FA-9552-FC97C74F24EA}"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0CF130-A49F-4A39-9E24-864EC639CE14}" type="slidenum">
              <a:rPr lang="en-IN" smtClean="0"/>
              <a:t>‹#›</a:t>
            </a:fld>
            <a:endParaRPr lang="en-IN"/>
          </a:p>
        </p:txBody>
      </p:sp>
    </p:spTree>
    <p:extLst>
      <p:ext uri="{BB962C8B-B14F-4D97-AF65-F5344CB8AC3E}">
        <p14:creationId xmlns:p14="http://schemas.microsoft.com/office/powerpoint/2010/main" val="13165703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DC4BC-95F6-43FA-9552-FC97C74F24EA}"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0CF130-A49F-4A39-9E24-864EC639CE14}" type="slidenum">
              <a:rPr lang="en-IN" smtClean="0"/>
              <a:t>‹#›</a:t>
            </a:fld>
            <a:endParaRPr lang="en-IN"/>
          </a:p>
        </p:txBody>
      </p:sp>
    </p:spTree>
    <p:extLst>
      <p:ext uri="{BB962C8B-B14F-4D97-AF65-F5344CB8AC3E}">
        <p14:creationId xmlns:p14="http://schemas.microsoft.com/office/powerpoint/2010/main" val="849141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58DC4BC-95F6-43FA-9552-FC97C74F24EA}" type="datetimeFigureOut">
              <a:rPr lang="en-IN" smtClean="0"/>
              <a:t>16-04-2026</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C0CF130-A49F-4A39-9E24-864EC639CE14}" type="slidenum">
              <a:rPr lang="en-IN" smtClean="0"/>
              <a:t>‹#›</a:t>
            </a:fld>
            <a:endParaRPr lang="en-IN"/>
          </a:p>
        </p:txBody>
      </p:sp>
    </p:spTree>
    <p:extLst>
      <p:ext uri="{BB962C8B-B14F-4D97-AF65-F5344CB8AC3E}">
        <p14:creationId xmlns:p14="http://schemas.microsoft.com/office/powerpoint/2010/main" val="1607208766"/>
      </p:ext>
    </p:extLst>
  </p:cSld>
  <p:clrMap bg1="dk1" tx1="lt1" bg2="dk2" tx2="lt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14" r:id="rId16"/>
    <p:sldLayoutId id="214748381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0EEE7-8204-3CDE-0858-A4DAFA415548}"/>
              </a:ext>
            </a:extLst>
          </p:cNvPr>
          <p:cNvSpPr>
            <a:spLocks noGrp="1"/>
          </p:cNvSpPr>
          <p:nvPr>
            <p:ph type="ctrTitle"/>
          </p:nvPr>
        </p:nvSpPr>
        <p:spPr>
          <a:xfrm>
            <a:off x="1524000" y="424271"/>
            <a:ext cx="9144000" cy="2387600"/>
          </a:xfrm>
        </p:spPr>
        <p:txBody>
          <a:bodyPr>
            <a:normAutofit/>
          </a:bodyPr>
          <a:lstStyle/>
          <a:p>
            <a:r>
              <a:rPr lang="en-US" sz="4800" dirty="0">
                <a:latin typeface="Times New Roman" panose="02020603050405020304" pitchFamily="18" charset="0"/>
                <a:cs typeface="Times New Roman" panose="02020603050405020304" pitchFamily="18" charset="0"/>
              </a:rPr>
              <a:t>Cloud-Based Finance Tracker Web Application</a:t>
            </a:r>
            <a:endParaRPr lang="en-IN" sz="4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7C50B24-F112-4C27-8F7D-5B6384C4329F}"/>
              </a:ext>
            </a:extLst>
          </p:cNvPr>
          <p:cNvSpPr>
            <a:spLocks noGrp="1"/>
          </p:cNvSpPr>
          <p:nvPr>
            <p:ph type="subTitle" idx="1"/>
          </p:nvPr>
        </p:nvSpPr>
        <p:spPr>
          <a:xfrm>
            <a:off x="6096000" y="5147495"/>
            <a:ext cx="5948516" cy="1225601"/>
          </a:xfrm>
        </p:spPr>
        <p:txBody>
          <a:bodyPr>
            <a:normAutofit fontScale="85000" lnSpcReduction="10000"/>
          </a:bodyPr>
          <a:lstStyle/>
          <a:p>
            <a:pPr algn="l"/>
            <a:r>
              <a:rPr lang="en-US" sz="2000" dirty="0">
                <a:latin typeface="Times New Roman" panose="02020603050405020304" pitchFamily="18" charset="0"/>
                <a:cs typeface="Times New Roman" panose="02020603050405020304" pitchFamily="18" charset="0"/>
              </a:rPr>
              <a:t>Name: Vidwath Kumar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Domain: Cloud Computing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Institution: Shree Devi Institute of Technology </a:t>
            </a: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7683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EAA52-818B-C20D-B204-D55C7ED5C9E2}"/>
              </a:ext>
            </a:extLst>
          </p:cNvPr>
          <p:cNvSpPr>
            <a:spLocks noGrp="1"/>
          </p:cNvSpPr>
          <p:nvPr>
            <p:ph type="title"/>
          </p:nvPr>
        </p:nvSpPr>
        <p:spPr>
          <a:xfrm>
            <a:off x="838200" y="365126"/>
            <a:ext cx="10515600" cy="962230"/>
          </a:xfrm>
        </p:spPr>
        <p:txBody>
          <a:bodyPr/>
          <a:lstStyle/>
          <a:p>
            <a:r>
              <a:rPr lang="en-IN" sz="4000" dirty="0">
                <a:latin typeface="Times New Roman" panose="02020603050405020304" pitchFamily="18" charset="0"/>
                <a:cs typeface="Times New Roman" panose="02020603050405020304" pitchFamily="18" charset="0"/>
              </a:rPr>
              <a:t>Contents</a:t>
            </a:r>
            <a:r>
              <a:rPr lang="en-IN" dirty="0"/>
              <a:t> </a:t>
            </a:r>
          </a:p>
        </p:txBody>
      </p:sp>
      <p:sp>
        <p:nvSpPr>
          <p:cNvPr id="3" name="Content Placeholder 2">
            <a:extLst>
              <a:ext uri="{FF2B5EF4-FFF2-40B4-BE49-F238E27FC236}">
                <a16:creationId xmlns:a16="http://schemas.microsoft.com/office/drawing/2014/main" id="{EEBB2F48-3C72-CBB1-2EEE-AB8D748965A6}"/>
              </a:ext>
            </a:extLst>
          </p:cNvPr>
          <p:cNvSpPr>
            <a:spLocks noGrp="1"/>
          </p:cNvSpPr>
          <p:nvPr>
            <p:ph idx="1"/>
          </p:nvPr>
        </p:nvSpPr>
        <p:spPr>
          <a:xfrm>
            <a:off x="1141412" y="1809136"/>
            <a:ext cx="9905999" cy="4581832"/>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1. Abstract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2. Introduction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3. Objective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4. Problem Definition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5. Scope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6. Methodology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7. System Design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8. Implementation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9. Results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10. Conclusion </a:t>
            </a:r>
          </a:p>
        </p:txBody>
      </p:sp>
    </p:spTree>
    <p:extLst>
      <p:ext uri="{BB962C8B-B14F-4D97-AF65-F5344CB8AC3E}">
        <p14:creationId xmlns:p14="http://schemas.microsoft.com/office/powerpoint/2010/main" val="420005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25727-050B-C9DC-9DFD-C334A3B47609}"/>
              </a:ext>
            </a:extLst>
          </p:cNvPr>
          <p:cNvSpPr>
            <a:spLocks noGrp="1"/>
          </p:cNvSpPr>
          <p:nvPr>
            <p:ph type="title"/>
          </p:nvPr>
        </p:nvSpPr>
        <p:spPr>
          <a:xfrm>
            <a:off x="838200" y="365126"/>
            <a:ext cx="10515600" cy="1050720"/>
          </a:xfrm>
        </p:spPr>
        <p:txBody>
          <a:bodyPr/>
          <a:lstStyle/>
          <a:p>
            <a:r>
              <a:rPr lang="en-IN"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A137A186-8471-A81E-8180-B78742B466FD}"/>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	This project focuses on developing and deploying a cloud-based finance tracking application using AWS EC2. The system allows users to record income and expenses, categorize transactions, and manage financial data efficiently. The backend is built using Node.js with MongoDB Atlas as the database, and the frontend uses HTML, CSS, and JavaScript. The application is deployed on the cloud, making it accessible from anywhere.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4099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54786-A696-58B0-DCC3-EDD5100C0371}"/>
              </a:ext>
            </a:extLst>
          </p:cNvPr>
          <p:cNvSpPr>
            <a:spLocks noGrp="1"/>
          </p:cNvSpPr>
          <p:nvPr>
            <p:ph type="title"/>
          </p:nvPr>
        </p:nvSpPr>
        <p:spPr>
          <a:xfrm>
            <a:off x="838200" y="365126"/>
            <a:ext cx="10515600" cy="1031056"/>
          </a:xfrm>
        </p:spPr>
        <p:txBody>
          <a:bodyPr/>
          <a:lstStyle/>
          <a:p>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051DCAD-72D3-D5F7-868F-57EDD7F1D99B}"/>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	Managing personal finances manually is difficult and error-prone. With the advancement of cloud computing, web applications can provide real-time access and data storage. This project demonstrates how cloud platforms like AWS can be used to deploy scalable and accessible applications.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7155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9ADD8-18BB-1927-0279-F94544870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5D92F3-BA88-89C0-1AD9-F820381CDABF}"/>
              </a:ext>
            </a:extLst>
          </p:cNvPr>
          <p:cNvSpPr>
            <a:spLocks noGrp="1"/>
          </p:cNvSpPr>
          <p:nvPr>
            <p:ph type="title"/>
          </p:nvPr>
        </p:nvSpPr>
        <p:spPr>
          <a:xfrm>
            <a:off x="838200" y="365126"/>
            <a:ext cx="10515600" cy="1031056"/>
          </a:xfrm>
        </p:spPr>
        <p:txBody>
          <a:bodyPr/>
          <a:lstStyle/>
          <a:p>
            <a:r>
              <a:rPr lang="en-IN" dirty="0">
                <a:latin typeface="Times New Roman" panose="02020603050405020304" pitchFamily="18" charset="0"/>
                <a:cs typeface="Times New Roman" panose="02020603050405020304" pitchFamily="18" charset="0"/>
              </a:rPr>
              <a:t>Objective of the Study</a:t>
            </a:r>
          </a:p>
        </p:txBody>
      </p:sp>
      <p:sp>
        <p:nvSpPr>
          <p:cNvPr id="3" name="Content Placeholder 2">
            <a:extLst>
              <a:ext uri="{FF2B5EF4-FFF2-40B4-BE49-F238E27FC236}">
                <a16:creationId xmlns:a16="http://schemas.microsoft.com/office/drawing/2014/main" id="{8E86A3B9-1A15-066B-E0A5-CEB98FAA2191}"/>
              </a:ext>
            </a:extLst>
          </p:cNvPr>
          <p:cNvSpPr>
            <a:spLocks noGrp="1"/>
          </p:cNvSpPr>
          <p:nvPr>
            <p:ph idx="1"/>
          </p:nvPr>
        </p:nvSpPr>
        <p:spPr/>
        <p:txBody>
          <a:bodyPr/>
          <a:lstStyle/>
          <a:p>
            <a:pPr marL="0" indent="0">
              <a:lnSpc>
                <a:spcPct val="100000"/>
              </a:lnSpc>
              <a:spcAft>
                <a:spcPts val="600"/>
              </a:spcAft>
              <a:buNone/>
            </a:pPr>
            <a:r>
              <a:rPr lang="en-US" dirty="0">
                <a:latin typeface="Times New Roman" panose="02020603050405020304" pitchFamily="18" charset="0"/>
                <a:cs typeface="Times New Roman" panose="02020603050405020304" pitchFamily="18" charset="0"/>
              </a:rPr>
              <a:t>• To develop a web-based finance tracker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To implement user authentication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To store data using cloud database (MongoDB Atlas)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To deploy the application on AWS EC2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To provide global access to users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7428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FB1F3-A6E5-025C-4EB9-C8CC7010939E}"/>
              </a:ext>
            </a:extLst>
          </p:cNvPr>
          <p:cNvSpPr>
            <a:spLocks noGrp="1"/>
          </p:cNvSpPr>
          <p:nvPr>
            <p:ph type="title"/>
          </p:nvPr>
        </p:nvSpPr>
        <p:spPr>
          <a:xfrm>
            <a:off x="838200" y="365126"/>
            <a:ext cx="10515600" cy="952398"/>
          </a:xfrm>
        </p:spPr>
        <p:txBody>
          <a:bodyPr/>
          <a:lstStyle/>
          <a:p>
            <a:r>
              <a:rPr lang="en-IN" dirty="0">
                <a:latin typeface="Times New Roman" panose="02020603050405020304" pitchFamily="18" charset="0"/>
                <a:cs typeface="Times New Roman" panose="02020603050405020304" pitchFamily="18" charset="0"/>
              </a:rPr>
              <a:t>Problem Definition</a:t>
            </a:r>
          </a:p>
        </p:txBody>
      </p:sp>
      <p:sp>
        <p:nvSpPr>
          <p:cNvPr id="3" name="Content Placeholder 2">
            <a:extLst>
              <a:ext uri="{FF2B5EF4-FFF2-40B4-BE49-F238E27FC236}">
                <a16:creationId xmlns:a16="http://schemas.microsoft.com/office/drawing/2014/main" id="{D457EC6B-D663-B128-C830-BA0D2A2A503D}"/>
              </a:ext>
            </a:extLst>
          </p:cNvPr>
          <p:cNvSpPr>
            <a:spLocks noGrp="1"/>
          </p:cNvSpPr>
          <p:nvPr>
            <p:ph idx="1"/>
          </p:nvPr>
        </p:nvSpPr>
        <p:spPr>
          <a:xfrm>
            <a:off x="838200" y="2141536"/>
            <a:ext cx="10515600" cy="2263316"/>
          </a:xfrm>
        </p:spPr>
        <p:txBody>
          <a:bodyPr/>
          <a:lstStyle/>
          <a:p>
            <a:pPr marL="0" indent="0" algn="just">
              <a:buNone/>
            </a:pPr>
            <a:r>
              <a:rPr lang="en-US" dirty="0">
                <a:latin typeface="Times New Roman" panose="02020603050405020304" pitchFamily="18" charset="0"/>
                <a:cs typeface="Times New Roman" panose="02020603050405020304" pitchFamily="18" charset="0"/>
              </a:rPr>
              <a:t>	Traditional methods of tracking expenses are inefficient and not accessible remotely. There is a need for a system that allows users to securely manage their finances from anywhere with real-time updates.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3480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91877-45AB-97E2-EFCF-2832768A7B02}"/>
              </a:ext>
            </a:extLst>
          </p:cNvPr>
          <p:cNvSpPr>
            <a:spLocks noGrp="1"/>
          </p:cNvSpPr>
          <p:nvPr>
            <p:ph type="title"/>
          </p:nvPr>
        </p:nvSpPr>
        <p:spPr>
          <a:xfrm>
            <a:off x="838200" y="365125"/>
            <a:ext cx="10515600" cy="932733"/>
          </a:xfrm>
        </p:spPr>
        <p:txBody>
          <a:bodyPr/>
          <a:lstStyle/>
          <a:p>
            <a:r>
              <a:rPr lang="en-IN" dirty="0">
                <a:latin typeface="Times New Roman" panose="02020603050405020304" pitchFamily="18" charset="0"/>
                <a:cs typeface="Times New Roman" panose="02020603050405020304" pitchFamily="18" charset="0"/>
              </a:rPr>
              <a:t>Scope of the Study</a:t>
            </a:r>
          </a:p>
        </p:txBody>
      </p:sp>
      <p:sp>
        <p:nvSpPr>
          <p:cNvPr id="3" name="Content Placeholder 2">
            <a:extLst>
              <a:ext uri="{FF2B5EF4-FFF2-40B4-BE49-F238E27FC236}">
                <a16:creationId xmlns:a16="http://schemas.microsoft.com/office/drawing/2014/main" id="{72BE3CEC-9C0C-DFC7-F7F9-C088D42CBF50}"/>
              </a:ext>
            </a:extLst>
          </p:cNvPr>
          <p:cNvSpPr>
            <a:spLocks noGrp="1"/>
          </p:cNvSpPr>
          <p:nvPr>
            <p:ph idx="1"/>
          </p:nvPr>
        </p:nvSpPr>
        <p:spPr/>
        <p:txBody>
          <a:bodyPr/>
          <a:lstStyle/>
          <a:p>
            <a:pPr marL="0" indent="0">
              <a:lnSpc>
                <a:spcPct val="100000"/>
              </a:lnSpc>
              <a:spcAft>
                <a:spcPts val="600"/>
              </a:spcAft>
              <a:buNone/>
            </a:pPr>
            <a:r>
              <a:rPr lang="en-US" dirty="0">
                <a:latin typeface="Times New Roman" panose="02020603050405020304" pitchFamily="18" charset="0"/>
                <a:cs typeface="Times New Roman" panose="02020603050405020304" pitchFamily="18" charset="0"/>
              </a:rPr>
              <a:t>• Tracks income and expenses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User authentication system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Cloud deployment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Real-time data storage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Accessible via web browser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531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4403A-3E0A-6BA3-C99D-495C63FD0E30}"/>
              </a:ext>
            </a:extLst>
          </p:cNvPr>
          <p:cNvSpPr>
            <a:spLocks noGrp="1"/>
          </p:cNvSpPr>
          <p:nvPr>
            <p:ph type="title"/>
          </p:nvPr>
        </p:nvSpPr>
        <p:spPr>
          <a:xfrm>
            <a:off x="838200" y="365126"/>
            <a:ext cx="10515600" cy="981894"/>
          </a:xfrm>
        </p:spPr>
        <p:txBody>
          <a:bodyPr/>
          <a:lstStyle/>
          <a:p>
            <a:r>
              <a:rPr lang="en-IN" dirty="0">
                <a:latin typeface="Times New Roman" panose="02020603050405020304" pitchFamily="18" charset="0"/>
                <a:cs typeface="Times New Roman" panose="02020603050405020304" pitchFamily="18" charset="0"/>
              </a:rPr>
              <a:t>Literature Review</a:t>
            </a:r>
          </a:p>
        </p:txBody>
      </p:sp>
      <p:sp>
        <p:nvSpPr>
          <p:cNvPr id="3" name="Content Placeholder 2">
            <a:extLst>
              <a:ext uri="{FF2B5EF4-FFF2-40B4-BE49-F238E27FC236}">
                <a16:creationId xmlns:a16="http://schemas.microsoft.com/office/drawing/2014/main" id="{3E6B471E-F850-5B0E-1057-40E861280A65}"/>
              </a:ext>
            </a:extLst>
          </p:cNvPr>
          <p:cNvSpPr>
            <a:spLocks noGrp="1"/>
          </p:cNvSpPr>
          <p:nvPr>
            <p:ph idx="1"/>
          </p:nvPr>
        </p:nvSpPr>
        <p:spPr>
          <a:xfrm>
            <a:off x="838200" y="1995947"/>
            <a:ext cx="10515600" cy="4181015"/>
          </a:xfrm>
        </p:spPr>
        <p:txBody>
          <a:bodyPr/>
          <a:lstStyle/>
          <a:p>
            <a:pPr marL="0" indent="0" algn="just">
              <a:buNone/>
            </a:pPr>
            <a:r>
              <a:rPr lang="en-US" dirty="0">
                <a:latin typeface="Times New Roman" panose="02020603050405020304" pitchFamily="18" charset="0"/>
                <a:cs typeface="Times New Roman" panose="02020603050405020304" pitchFamily="18" charset="0"/>
              </a:rPr>
              <a:t>	Various financial tracking systems exist, but many lack cloud deployment or real-time access. Studies show that cloud-based applications improve accessibility, scalability, and data security. This project combines web development with cloud computing for better efficiency.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1322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EFBDA-6FDB-86D1-B5D2-4A7F463112B3}"/>
              </a:ext>
            </a:extLst>
          </p:cNvPr>
          <p:cNvSpPr>
            <a:spLocks noGrp="1"/>
          </p:cNvSpPr>
          <p:nvPr>
            <p:ph type="title"/>
          </p:nvPr>
        </p:nvSpPr>
        <p:spPr>
          <a:xfrm>
            <a:off x="838200" y="365125"/>
            <a:ext cx="10515600" cy="1021223"/>
          </a:xfrm>
        </p:spPr>
        <p:txBody>
          <a:bodyPr/>
          <a:lstStyle/>
          <a:p>
            <a:r>
              <a:rPr lang="en-IN" dirty="0">
                <a:latin typeface="Times New Roman" panose="02020603050405020304" pitchFamily="18" charset="0"/>
                <a:cs typeface="Times New Roman" panose="02020603050405020304" pitchFamily="18" charset="0"/>
              </a:rPr>
              <a:t>Methodology </a:t>
            </a:r>
          </a:p>
        </p:txBody>
      </p:sp>
      <p:sp>
        <p:nvSpPr>
          <p:cNvPr id="3" name="Content Placeholder 2">
            <a:extLst>
              <a:ext uri="{FF2B5EF4-FFF2-40B4-BE49-F238E27FC236}">
                <a16:creationId xmlns:a16="http://schemas.microsoft.com/office/drawing/2014/main" id="{643DD30B-DF43-47AC-3CEC-0344475BEEA3}"/>
              </a:ext>
            </a:extLst>
          </p:cNvPr>
          <p:cNvSpPr>
            <a:spLocks noGrp="1"/>
          </p:cNvSpPr>
          <p:nvPr>
            <p:ph idx="1"/>
          </p:nvPr>
        </p:nvSpPr>
        <p:spPr/>
        <p:txBody>
          <a:bodyPr/>
          <a:lstStyle/>
          <a:p>
            <a:pPr marL="0" indent="0">
              <a:lnSpc>
                <a:spcPct val="100000"/>
              </a:lnSpc>
              <a:spcAft>
                <a:spcPts val="600"/>
              </a:spcAft>
              <a:buNone/>
            </a:pPr>
            <a:r>
              <a:rPr lang="en-IN" dirty="0">
                <a:latin typeface="Times New Roman" panose="02020603050405020304" pitchFamily="18" charset="0"/>
                <a:cs typeface="Times New Roman" panose="02020603050405020304" pitchFamily="18" charset="0"/>
              </a:rPr>
              <a:t>1. Requirement analysis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2. Frontend development (HTML, CSS, JS)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3. Backend development (Node.js, Express)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4. Database integration (MongoDB Atlas)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5. Cloud deployment (AWS EC2)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6. Testing and debugging </a:t>
            </a:r>
          </a:p>
        </p:txBody>
      </p:sp>
    </p:spTree>
    <p:extLst>
      <p:ext uri="{BB962C8B-B14F-4D97-AF65-F5344CB8AC3E}">
        <p14:creationId xmlns:p14="http://schemas.microsoft.com/office/powerpoint/2010/main" val="2760310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F9652-7576-7C6A-6329-7E4E42CB6EA4}"/>
              </a:ext>
            </a:extLst>
          </p:cNvPr>
          <p:cNvSpPr>
            <a:spLocks noGrp="1"/>
          </p:cNvSpPr>
          <p:nvPr>
            <p:ph type="title"/>
          </p:nvPr>
        </p:nvSpPr>
        <p:spPr>
          <a:xfrm>
            <a:off x="838200" y="453616"/>
            <a:ext cx="10515600" cy="972062"/>
          </a:xfrm>
        </p:spPr>
        <p:txBody>
          <a:bodyPr/>
          <a:lstStyle/>
          <a:p>
            <a:r>
              <a:rPr lang="en-IN" dirty="0">
                <a:latin typeface="Times New Roman" panose="02020603050405020304" pitchFamily="18" charset="0"/>
                <a:cs typeface="Times New Roman" panose="02020603050405020304" pitchFamily="18" charset="0"/>
              </a:rPr>
              <a:t>Experimental Setup</a:t>
            </a:r>
          </a:p>
        </p:txBody>
      </p:sp>
      <p:sp>
        <p:nvSpPr>
          <p:cNvPr id="3" name="Content Placeholder 2">
            <a:extLst>
              <a:ext uri="{FF2B5EF4-FFF2-40B4-BE49-F238E27FC236}">
                <a16:creationId xmlns:a16="http://schemas.microsoft.com/office/drawing/2014/main" id="{6C2257EA-CA94-CEC3-AE07-5FAC24B04741}"/>
              </a:ext>
            </a:extLst>
          </p:cNvPr>
          <p:cNvSpPr>
            <a:spLocks noGrp="1"/>
          </p:cNvSpPr>
          <p:nvPr>
            <p:ph idx="1"/>
          </p:nvPr>
        </p:nvSpPr>
        <p:spPr>
          <a:xfrm>
            <a:off x="838200" y="1923948"/>
            <a:ext cx="10515600" cy="4351338"/>
          </a:xfrm>
        </p:spPr>
        <p:txBody>
          <a:bodyPr/>
          <a:lstStyle/>
          <a:p>
            <a:pPr marL="0" indent="0">
              <a:lnSpc>
                <a:spcPct val="100000"/>
              </a:lnSpc>
              <a:spcAft>
                <a:spcPts val="600"/>
              </a:spcAft>
              <a:buNone/>
            </a:pPr>
            <a:r>
              <a:rPr lang="en-IN" dirty="0">
                <a:latin typeface="Times New Roman" panose="02020603050405020304" pitchFamily="18" charset="0"/>
                <a:cs typeface="Times New Roman" panose="02020603050405020304" pitchFamily="18" charset="0"/>
              </a:rPr>
              <a:t>• Cloud Platform: AWS EC2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Database: MongoDB Atlas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Development Tools: VS Code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Testing: Browser-based testing </a:t>
            </a:r>
          </a:p>
        </p:txBody>
      </p:sp>
    </p:spTree>
    <p:extLst>
      <p:ext uri="{BB962C8B-B14F-4D97-AF65-F5344CB8AC3E}">
        <p14:creationId xmlns:p14="http://schemas.microsoft.com/office/powerpoint/2010/main" val="2498115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45-CBBE-6287-1B48-9FBE59E1918D}"/>
              </a:ext>
            </a:extLst>
          </p:cNvPr>
          <p:cNvSpPr>
            <a:spLocks noGrp="1"/>
          </p:cNvSpPr>
          <p:nvPr>
            <p:ph type="title"/>
          </p:nvPr>
        </p:nvSpPr>
        <p:spPr>
          <a:xfrm>
            <a:off x="838200" y="365126"/>
            <a:ext cx="10515600" cy="1139210"/>
          </a:xfrm>
        </p:spPr>
        <p:txBody>
          <a:bodyPr/>
          <a:lstStyle/>
          <a:p>
            <a:r>
              <a:rPr lang="en-IN" dirty="0">
                <a:latin typeface="Times New Roman" panose="02020603050405020304" pitchFamily="18" charset="0"/>
                <a:cs typeface="Times New Roman" panose="02020603050405020304" pitchFamily="18" charset="0"/>
              </a:rPr>
              <a:t>Analysis and Interpretation</a:t>
            </a:r>
          </a:p>
        </p:txBody>
      </p:sp>
      <p:sp>
        <p:nvSpPr>
          <p:cNvPr id="3" name="Content Placeholder 2">
            <a:extLst>
              <a:ext uri="{FF2B5EF4-FFF2-40B4-BE49-F238E27FC236}">
                <a16:creationId xmlns:a16="http://schemas.microsoft.com/office/drawing/2014/main" id="{A0472387-79EA-C0B8-749C-52FA82FA7B01}"/>
              </a:ext>
            </a:extLst>
          </p:cNvPr>
          <p:cNvSpPr>
            <a:spLocks noGrp="1"/>
          </p:cNvSpPr>
          <p:nvPr>
            <p:ph idx="1"/>
          </p:nvPr>
        </p:nvSpPr>
        <p:spPr>
          <a:xfrm>
            <a:off x="838200" y="1973109"/>
            <a:ext cx="10515600" cy="4351338"/>
          </a:xfrm>
        </p:spPr>
        <p:txBody>
          <a:bodyPr/>
          <a:lstStyle/>
          <a:p>
            <a:pPr marL="0" indent="0" algn="just">
              <a:buNone/>
            </a:pPr>
            <a:r>
              <a:rPr lang="en-US" dirty="0">
                <a:latin typeface="Times New Roman" panose="02020603050405020304" pitchFamily="18" charset="0"/>
                <a:cs typeface="Times New Roman" panose="02020603050405020304" pitchFamily="18" charset="0"/>
              </a:rPr>
              <a:t>	The system successfully handles user authentication and transaction management. Data is stored securely in MongoDB Atlas and retrieved efficiently. The application performs well under normal usage conditions.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7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72BA9-D7FF-6CF2-62A4-0074F2FD1509}"/>
              </a:ext>
            </a:extLst>
          </p:cNvPr>
          <p:cNvSpPr>
            <a:spLocks noGrp="1"/>
          </p:cNvSpPr>
          <p:nvPr>
            <p:ph type="title"/>
          </p:nvPr>
        </p:nvSpPr>
        <p:spPr>
          <a:xfrm>
            <a:off x="838200" y="365126"/>
            <a:ext cx="10515600" cy="981894"/>
          </a:xfrm>
        </p:spPr>
        <p:txBody>
          <a:bodyPr/>
          <a:lstStyle/>
          <a:p>
            <a:r>
              <a:rPr lang="en-IN" dirty="0">
                <a:latin typeface="Times New Roman" panose="02020603050405020304" pitchFamily="18" charset="0"/>
                <a:cs typeface="Times New Roman" panose="02020603050405020304" pitchFamily="18" charset="0"/>
              </a:rPr>
              <a:t>Results / Findings</a:t>
            </a:r>
          </a:p>
        </p:txBody>
      </p:sp>
      <p:sp>
        <p:nvSpPr>
          <p:cNvPr id="3" name="Content Placeholder 2">
            <a:extLst>
              <a:ext uri="{FF2B5EF4-FFF2-40B4-BE49-F238E27FC236}">
                <a16:creationId xmlns:a16="http://schemas.microsoft.com/office/drawing/2014/main" id="{1D24BB64-2A3C-66F4-8157-361186BB78F2}"/>
              </a:ext>
            </a:extLst>
          </p:cNvPr>
          <p:cNvSpPr>
            <a:spLocks noGrp="1"/>
          </p:cNvSpPr>
          <p:nvPr>
            <p:ph idx="1"/>
          </p:nvPr>
        </p:nvSpPr>
        <p:spPr>
          <a:xfrm>
            <a:off x="838200" y="1907457"/>
            <a:ext cx="10515600" cy="4269505"/>
          </a:xfrm>
        </p:spPr>
        <p:txBody>
          <a:bodyPr/>
          <a:lstStyle/>
          <a:p>
            <a:pPr marL="0" indent="0">
              <a:lnSpc>
                <a:spcPct val="100000"/>
              </a:lnSpc>
              <a:spcAft>
                <a:spcPts val="600"/>
              </a:spcAft>
              <a:buNone/>
            </a:pPr>
            <a:r>
              <a:rPr lang="en-US" dirty="0">
                <a:latin typeface="Times New Roman" panose="02020603050405020304" pitchFamily="18" charset="0"/>
                <a:cs typeface="Times New Roman" panose="02020603050405020304" pitchFamily="18" charset="0"/>
              </a:rPr>
              <a:t>• Successful deployment on AWS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Real-time data storage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Secure login system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Accessible from any location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8191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60573-D830-A5EC-D92B-B999039D66A2}"/>
              </a:ext>
            </a:extLst>
          </p:cNvPr>
          <p:cNvSpPr>
            <a:spLocks noGrp="1"/>
          </p:cNvSpPr>
          <p:nvPr>
            <p:ph type="title"/>
          </p:nvPr>
        </p:nvSpPr>
        <p:spPr>
          <a:xfrm>
            <a:off x="838200" y="365126"/>
            <a:ext cx="10515600" cy="1040888"/>
          </a:xfrm>
        </p:spPr>
        <p:txBody>
          <a:bodyPr/>
          <a:lstStyle/>
          <a:p>
            <a:r>
              <a:rPr lang="en-IN" dirty="0">
                <a:latin typeface="Times New Roman" panose="02020603050405020304" pitchFamily="18" charset="0"/>
                <a:cs typeface="Times New Roman" panose="02020603050405020304" pitchFamily="18" charset="0"/>
              </a:rPr>
              <a:t>Consolidation Table</a:t>
            </a:r>
          </a:p>
        </p:txBody>
      </p:sp>
      <p:graphicFrame>
        <p:nvGraphicFramePr>
          <p:cNvPr id="4" name="Content Placeholder 3">
            <a:extLst>
              <a:ext uri="{FF2B5EF4-FFF2-40B4-BE49-F238E27FC236}">
                <a16:creationId xmlns:a16="http://schemas.microsoft.com/office/drawing/2014/main" id="{0E884A77-1AD7-9DB5-498A-514815AE1713}"/>
              </a:ext>
            </a:extLst>
          </p:cNvPr>
          <p:cNvGraphicFramePr>
            <a:graphicFrameLocks noGrp="1"/>
          </p:cNvGraphicFramePr>
          <p:nvPr>
            <p:ph idx="1"/>
            <p:extLst>
              <p:ext uri="{D42A27DB-BD31-4B8C-83A1-F6EECF244321}">
                <p14:modId xmlns:p14="http://schemas.microsoft.com/office/powerpoint/2010/main" val="1318198135"/>
              </p:ext>
            </p:extLst>
          </p:nvPr>
        </p:nvGraphicFramePr>
        <p:xfrm>
          <a:off x="2411975" y="2091095"/>
          <a:ext cx="7368050" cy="2274425"/>
        </p:xfrm>
        <a:graphic>
          <a:graphicData uri="http://schemas.openxmlformats.org/drawingml/2006/table">
            <a:tbl>
              <a:tblPr firstRow="1" bandRow="1">
                <a:tableStyleId>{2D5ABB26-0587-4C30-8999-92F81FD0307C}</a:tableStyleId>
              </a:tblPr>
              <a:tblGrid>
                <a:gridCol w="3684025">
                  <a:extLst>
                    <a:ext uri="{9D8B030D-6E8A-4147-A177-3AD203B41FA5}">
                      <a16:colId xmlns:a16="http://schemas.microsoft.com/office/drawing/2014/main" val="131045240"/>
                    </a:ext>
                  </a:extLst>
                </a:gridCol>
                <a:gridCol w="3684025">
                  <a:extLst>
                    <a:ext uri="{9D8B030D-6E8A-4147-A177-3AD203B41FA5}">
                      <a16:colId xmlns:a16="http://schemas.microsoft.com/office/drawing/2014/main" val="3259197051"/>
                    </a:ext>
                  </a:extLst>
                </a:gridCol>
              </a:tblGrid>
              <a:tr h="454885">
                <a:tc>
                  <a:txBody>
                    <a:bodyPr/>
                    <a:lstStyle/>
                    <a:p>
                      <a:pPr algn="ctr"/>
                      <a:r>
                        <a:rPr lang="en-US" sz="2000" b="1" dirty="0">
                          <a:latin typeface="Times New Roman" panose="02020603050405020304" pitchFamily="18" charset="0"/>
                          <a:cs typeface="Times New Roman" panose="02020603050405020304" pitchFamily="18" charset="0"/>
                        </a:rPr>
                        <a:t>Feature</a:t>
                      </a:r>
                      <a:endParaRPr lang="en-IN" sz="20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latin typeface="Times New Roman" panose="02020603050405020304" pitchFamily="18" charset="0"/>
                          <a:cs typeface="Times New Roman" panose="02020603050405020304" pitchFamily="18" charset="0"/>
                        </a:rPr>
                        <a:t>Status</a:t>
                      </a:r>
                      <a:endParaRPr lang="en-IN" sz="20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4462404"/>
                  </a:ext>
                </a:extLst>
              </a:tr>
              <a:tr h="454885">
                <a:tc>
                  <a:txBody>
                    <a:bodyPr/>
                    <a:lstStyle/>
                    <a:p>
                      <a:pPr algn="l"/>
                      <a:r>
                        <a:rPr lang="en-US" sz="2000" dirty="0">
                          <a:latin typeface="Times New Roman" panose="02020603050405020304" pitchFamily="18" charset="0"/>
                          <a:cs typeface="Times New Roman" panose="02020603050405020304" pitchFamily="18" charset="0"/>
                        </a:rPr>
                        <a:t>Login System</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dirty="0">
                          <a:latin typeface="Times New Roman" panose="02020603050405020304" pitchFamily="18" charset="0"/>
                          <a:cs typeface="Times New Roman" panose="02020603050405020304" pitchFamily="18" charset="0"/>
                        </a:rPr>
                        <a:t>Completed</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5529222"/>
                  </a:ext>
                </a:extLst>
              </a:tr>
              <a:tr h="454885">
                <a:tc>
                  <a:txBody>
                    <a:bodyPr/>
                    <a:lstStyle/>
                    <a:p>
                      <a:pPr algn="l"/>
                      <a:r>
                        <a:rPr lang="en-US" sz="2000" dirty="0">
                          <a:latin typeface="Times New Roman" panose="02020603050405020304" pitchFamily="18" charset="0"/>
                          <a:cs typeface="Times New Roman" panose="02020603050405020304" pitchFamily="18" charset="0"/>
                        </a:rPr>
                        <a:t>Transaction</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Completed</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4428143"/>
                  </a:ext>
                </a:extLst>
              </a:tr>
              <a:tr h="454885">
                <a:tc>
                  <a:txBody>
                    <a:bodyPr/>
                    <a:lstStyle/>
                    <a:p>
                      <a:pPr algn="l"/>
                      <a:r>
                        <a:rPr lang="en-US" sz="2000" dirty="0">
                          <a:latin typeface="Times New Roman" panose="02020603050405020304" pitchFamily="18" charset="0"/>
                          <a:cs typeface="Times New Roman" panose="02020603050405020304" pitchFamily="18" charset="0"/>
                        </a:rPr>
                        <a:t>Database</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Completed</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9138463"/>
                  </a:ext>
                </a:extLst>
              </a:tr>
              <a:tr h="454885">
                <a:tc>
                  <a:txBody>
                    <a:bodyPr/>
                    <a:lstStyle/>
                    <a:p>
                      <a:pPr algn="l"/>
                      <a:r>
                        <a:rPr lang="en-US" sz="2000" dirty="0">
                          <a:latin typeface="Times New Roman" panose="02020603050405020304" pitchFamily="18" charset="0"/>
                          <a:cs typeface="Times New Roman" panose="02020603050405020304" pitchFamily="18" charset="0"/>
                        </a:rPr>
                        <a:t>Cloud Deploy</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Completed</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0120899"/>
                  </a:ext>
                </a:extLst>
              </a:tr>
            </a:tbl>
          </a:graphicData>
        </a:graphic>
      </p:graphicFrame>
    </p:spTree>
    <p:extLst>
      <p:ext uri="{BB962C8B-B14F-4D97-AF65-F5344CB8AC3E}">
        <p14:creationId xmlns:p14="http://schemas.microsoft.com/office/powerpoint/2010/main" val="4272602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3AF3E-B940-AE24-11FE-08F0C7EAFC73}"/>
              </a:ext>
            </a:extLst>
          </p:cNvPr>
          <p:cNvSpPr>
            <a:spLocks noGrp="1"/>
          </p:cNvSpPr>
          <p:nvPr>
            <p:ph type="title"/>
          </p:nvPr>
        </p:nvSpPr>
        <p:spPr>
          <a:xfrm>
            <a:off x="838200" y="365126"/>
            <a:ext cx="10515600" cy="1109714"/>
          </a:xfrm>
        </p:spPr>
        <p:txBody>
          <a:bodyPr/>
          <a:lstStyle/>
          <a:p>
            <a:r>
              <a:rPr lang="en-IN" dirty="0">
                <a:latin typeface="Times New Roman" panose="02020603050405020304" pitchFamily="18" charset="0"/>
                <a:cs typeface="Times New Roman" panose="02020603050405020304" pitchFamily="18" charset="0"/>
              </a:rPr>
              <a:t>Discussion</a:t>
            </a:r>
          </a:p>
        </p:txBody>
      </p:sp>
      <p:sp>
        <p:nvSpPr>
          <p:cNvPr id="3" name="Content Placeholder 2">
            <a:extLst>
              <a:ext uri="{FF2B5EF4-FFF2-40B4-BE49-F238E27FC236}">
                <a16:creationId xmlns:a16="http://schemas.microsoft.com/office/drawing/2014/main" id="{1B411A03-C510-25B7-2AD4-B33EBAA13F21}"/>
              </a:ext>
            </a:extLst>
          </p:cNvPr>
          <p:cNvSpPr>
            <a:spLocks noGrp="1"/>
          </p:cNvSpPr>
          <p:nvPr>
            <p:ph idx="1"/>
          </p:nvPr>
        </p:nvSpPr>
        <p:spPr>
          <a:xfrm>
            <a:off x="838200" y="2022270"/>
            <a:ext cx="10515600" cy="4351338"/>
          </a:xfrm>
        </p:spPr>
        <p:txBody>
          <a:bodyPr/>
          <a:lstStyle/>
          <a:p>
            <a:pPr marL="0" indent="0" algn="just">
              <a:buNone/>
            </a:pPr>
            <a:r>
              <a:rPr lang="en-US" dirty="0">
                <a:latin typeface="Times New Roman" panose="02020603050405020304" pitchFamily="18" charset="0"/>
                <a:cs typeface="Times New Roman" panose="02020603050405020304" pitchFamily="18" charset="0"/>
              </a:rPr>
              <a:t>	The system demonstrates how cloud computing enables scalable and accessible applications. Challenges included configuring AWS and database connectivity, which were resolved successfully.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4606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62CA9-CC96-3442-533D-2BA573CF5BF8}"/>
              </a:ext>
            </a:extLst>
          </p:cNvPr>
          <p:cNvSpPr>
            <a:spLocks noGrp="1"/>
          </p:cNvSpPr>
          <p:nvPr>
            <p:ph type="title"/>
          </p:nvPr>
        </p:nvSpPr>
        <p:spPr>
          <a:xfrm>
            <a:off x="838200" y="365126"/>
            <a:ext cx="10515600" cy="962230"/>
          </a:xfrm>
        </p:spPr>
        <p:txBody>
          <a:bodyPr/>
          <a:lstStyle/>
          <a:p>
            <a:r>
              <a:rPr lang="en-IN"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FF1B733E-F58D-56BB-47DD-91D9357B2681}"/>
              </a:ext>
            </a:extLst>
          </p:cNvPr>
          <p:cNvSpPr>
            <a:spLocks noGrp="1"/>
          </p:cNvSpPr>
          <p:nvPr>
            <p:ph idx="1"/>
          </p:nvPr>
        </p:nvSpPr>
        <p:spPr>
          <a:xfrm>
            <a:off x="838200" y="2123767"/>
            <a:ext cx="10515600" cy="4053195"/>
          </a:xfrm>
        </p:spPr>
        <p:txBody>
          <a:bodyPr/>
          <a:lstStyle/>
          <a:p>
            <a:pPr marL="0" indent="0" algn="just">
              <a:buNone/>
            </a:pPr>
            <a:r>
              <a:rPr lang="en-US" dirty="0">
                <a:latin typeface="Times New Roman" panose="02020603050405020304" pitchFamily="18" charset="0"/>
                <a:cs typeface="Times New Roman" panose="02020603050405020304" pitchFamily="18" charset="0"/>
              </a:rPr>
              <a:t>	A cloud-hosted finance tracking system that allows users to manage financial data securely with real-time updates and global accessibility.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335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64F4C-3D19-3E43-AD8A-665954751A33}"/>
              </a:ext>
            </a:extLst>
          </p:cNvPr>
          <p:cNvSpPr>
            <a:spLocks noGrp="1"/>
          </p:cNvSpPr>
          <p:nvPr>
            <p:ph type="title"/>
          </p:nvPr>
        </p:nvSpPr>
        <p:spPr>
          <a:xfrm>
            <a:off x="838200" y="365126"/>
            <a:ext cx="10515600" cy="1129378"/>
          </a:xfrm>
        </p:spPr>
        <p:txBody>
          <a:bodyPr/>
          <a:lstStyle/>
          <a:p>
            <a:r>
              <a:rPr lang="en-IN" dirty="0">
                <a:latin typeface="Times New Roman" panose="02020603050405020304" pitchFamily="18" charset="0"/>
                <a:cs typeface="Times New Roman" panose="02020603050405020304" pitchFamily="18" charset="0"/>
              </a:rPr>
              <a:t>Feasibility Study</a:t>
            </a:r>
          </a:p>
        </p:txBody>
      </p:sp>
      <p:sp>
        <p:nvSpPr>
          <p:cNvPr id="3" name="Content Placeholder 2">
            <a:extLst>
              <a:ext uri="{FF2B5EF4-FFF2-40B4-BE49-F238E27FC236}">
                <a16:creationId xmlns:a16="http://schemas.microsoft.com/office/drawing/2014/main" id="{1E98A6B3-188B-4201-E27C-6633FB1B8A49}"/>
              </a:ext>
            </a:extLst>
          </p:cNvPr>
          <p:cNvSpPr>
            <a:spLocks noGrp="1"/>
          </p:cNvSpPr>
          <p:nvPr>
            <p:ph idx="1"/>
          </p:nvPr>
        </p:nvSpPr>
        <p:spPr>
          <a:xfrm>
            <a:off x="838200" y="2163097"/>
            <a:ext cx="10515600" cy="4013866"/>
          </a:xfrm>
        </p:spPr>
        <p:txBody>
          <a:bodyPr/>
          <a:lstStyle/>
          <a:p>
            <a:pPr>
              <a:lnSpc>
                <a:spcPct val="100000"/>
              </a:lnSpc>
              <a:spcAft>
                <a:spcPts val="600"/>
              </a:spcAft>
            </a:pPr>
            <a:r>
              <a:rPr lang="en-US" dirty="0">
                <a:latin typeface="Times New Roman" panose="02020603050405020304" pitchFamily="18" charset="0"/>
                <a:cs typeface="Times New Roman" panose="02020603050405020304" pitchFamily="18" charset="0"/>
              </a:rPr>
              <a:t>Technical: Uses widely available technologies </a:t>
            </a:r>
          </a:p>
          <a:p>
            <a:pPr>
              <a:lnSpc>
                <a:spcPct val="100000"/>
              </a:lnSpc>
              <a:spcAft>
                <a:spcPts val="600"/>
              </a:spcAft>
            </a:pPr>
            <a:r>
              <a:rPr lang="en-US" dirty="0">
                <a:latin typeface="Times New Roman" panose="02020603050405020304" pitchFamily="18" charset="0"/>
                <a:cs typeface="Times New Roman" panose="02020603050405020304" pitchFamily="18" charset="0"/>
              </a:rPr>
              <a:t>Economic: Low cost using free-tier AWS </a:t>
            </a:r>
          </a:p>
          <a:p>
            <a:pPr>
              <a:lnSpc>
                <a:spcPct val="100000"/>
              </a:lnSpc>
              <a:spcAft>
                <a:spcPts val="600"/>
              </a:spcAft>
            </a:pPr>
            <a:r>
              <a:rPr lang="en-US" dirty="0">
                <a:latin typeface="Times New Roman" panose="02020603050405020304" pitchFamily="18" charset="0"/>
                <a:cs typeface="Times New Roman" panose="02020603050405020304" pitchFamily="18" charset="0"/>
              </a:rPr>
              <a:t>Operational: Easy to use and maintain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2208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F4A36-7570-AA2B-AA9C-BE91E24F61EF}"/>
              </a:ext>
            </a:extLst>
          </p:cNvPr>
          <p:cNvSpPr>
            <a:spLocks noGrp="1"/>
          </p:cNvSpPr>
          <p:nvPr>
            <p:ph type="title"/>
          </p:nvPr>
        </p:nvSpPr>
        <p:spPr>
          <a:xfrm>
            <a:off x="838200" y="365125"/>
            <a:ext cx="10515600" cy="1090049"/>
          </a:xfrm>
        </p:spPr>
        <p:txBody>
          <a:bodyPr/>
          <a:lstStyle/>
          <a:p>
            <a:r>
              <a:rPr lang="en-IN" dirty="0">
                <a:latin typeface="Times New Roman" panose="02020603050405020304" pitchFamily="18" charset="0"/>
                <a:cs typeface="Times New Roman" panose="02020603050405020304" pitchFamily="18" charset="0"/>
              </a:rPr>
              <a:t>Design / Workflow</a:t>
            </a:r>
          </a:p>
        </p:txBody>
      </p:sp>
      <p:sp>
        <p:nvSpPr>
          <p:cNvPr id="3" name="Content Placeholder 2">
            <a:extLst>
              <a:ext uri="{FF2B5EF4-FFF2-40B4-BE49-F238E27FC236}">
                <a16:creationId xmlns:a16="http://schemas.microsoft.com/office/drawing/2014/main" id="{75EEE822-35D5-9BA4-F68D-3C5D7CE27E47}"/>
              </a:ext>
            </a:extLst>
          </p:cNvPr>
          <p:cNvSpPr>
            <a:spLocks noGrp="1"/>
          </p:cNvSpPr>
          <p:nvPr>
            <p:ph idx="1"/>
          </p:nvPr>
        </p:nvSpPr>
        <p:spPr>
          <a:xfrm>
            <a:off x="2074607" y="3175819"/>
            <a:ext cx="7865806" cy="648930"/>
          </a:xfrm>
        </p:spPr>
        <p:txBody>
          <a:bodyPr/>
          <a:lstStyle/>
          <a:p>
            <a:pPr marL="0" indent="0">
              <a:buNone/>
            </a:pPr>
            <a:r>
              <a:rPr lang="en-IN" b="1" dirty="0">
                <a:latin typeface="Times New Roman" panose="02020603050405020304" pitchFamily="18" charset="0"/>
                <a:cs typeface="Times New Roman" panose="02020603050405020304" pitchFamily="18" charset="0"/>
              </a:rPr>
              <a:t>User → Frontend → Backend (Node.js) → MongoDB Atlas </a:t>
            </a:r>
          </a:p>
        </p:txBody>
      </p:sp>
    </p:spTree>
    <p:extLst>
      <p:ext uri="{BB962C8B-B14F-4D97-AF65-F5344CB8AC3E}">
        <p14:creationId xmlns:p14="http://schemas.microsoft.com/office/powerpoint/2010/main" val="3819260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05F0A-0A5A-0C09-DC83-EC4C371A026A}"/>
              </a:ext>
            </a:extLst>
          </p:cNvPr>
          <p:cNvSpPr>
            <a:spLocks noGrp="1"/>
          </p:cNvSpPr>
          <p:nvPr>
            <p:ph type="title"/>
          </p:nvPr>
        </p:nvSpPr>
        <p:spPr>
          <a:xfrm>
            <a:off x="838200" y="365126"/>
            <a:ext cx="10515600" cy="962230"/>
          </a:xfrm>
        </p:spPr>
        <p:txBody>
          <a:bodyPr/>
          <a:lstStyle/>
          <a:p>
            <a:r>
              <a:rPr lang="en-IN" dirty="0">
                <a:latin typeface="Times New Roman" panose="02020603050405020304" pitchFamily="18" charset="0"/>
                <a:cs typeface="Times New Roman" panose="02020603050405020304" pitchFamily="18" charset="0"/>
              </a:rPr>
              <a:t>Diagrams </a:t>
            </a:r>
          </a:p>
        </p:txBody>
      </p:sp>
      <p:sp>
        <p:nvSpPr>
          <p:cNvPr id="3" name="Content Placeholder 2">
            <a:extLst>
              <a:ext uri="{FF2B5EF4-FFF2-40B4-BE49-F238E27FC236}">
                <a16:creationId xmlns:a16="http://schemas.microsoft.com/office/drawing/2014/main" id="{E2B9B00D-09DE-F00C-37A1-4B5031CD57F2}"/>
              </a:ext>
            </a:extLst>
          </p:cNvPr>
          <p:cNvSpPr>
            <a:spLocks noGrp="1"/>
          </p:cNvSpPr>
          <p:nvPr>
            <p:ph idx="1"/>
          </p:nvPr>
        </p:nvSpPr>
        <p:spPr>
          <a:xfrm>
            <a:off x="838200" y="1445342"/>
            <a:ext cx="10515600" cy="4731621"/>
          </a:xfrm>
        </p:spPr>
        <p:txBody>
          <a:bodyPr/>
          <a:lstStyle/>
          <a:p>
            <a:r>
              <a:rPr lang="en-IN" dirty="0">
                <a:latin typeface="Times New Roman" panose="02020603050405020304" pitchFamily="18" charset="0"/>
                <a:cs typeface="Times New Roman" panose="02020603050405020304" pitchFamily="18" charset="0"/>
              </a:rPr>
              <a:t>Architecture Diagram</a:t>
            </a:r>
          </a:p>
        </p:txBody>
      </p:sp>
      <p:pic>
        <p:nvPicPr>
          <p:cNvPr id="17" name="Picture 16">
            <a:extLst>
              <a:ext uri="{FF2B5EF4-FFF2-40B4-BE49-F238E27FC236}">
                <a16:creationId xmlns:a16="http://schemas.microsoft.com/office/drawing/2014/main" id="{C2E61771-5E94-4BAC-D2EF-DB745D995B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2899" y="1663264"/>
            <a:ext cx="3096701" cy="4799354"/>
          </a:xfrm>
          <a:prstGeom prst="rect">
            <a:avLst/>
          </a:prstGeom>
        </p:spPr>
      </p:pic>
    </p:spTree>
    <p:extLst>
      <p:ext uri="{BB962C8B-B14F-4D97-AF65-F5344CB8AC3E}">
        <p14:creationId xmlns:p14="http://schemas.microsoft.com/office/powerpoint/2010/main" val="2861400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8A409B-FC1B-3F3D-DB54-F12C1F58EC01}"/>
              </a:ext>
            </a:extLst>
          </p:cNvPr>
          <p:cNvSpPr>
            <a:spLocks noGrp="1"/>
          </p:cNvSpPr>
          <p:nvPr>
            <p:ph idx="1"/>
          </p:nvPr>
        </p:nvSpPr>
        <p:spPr>
          <a:xfrm>
            <a:off x="838200" y="501444"/>
            <a:ext cx="10515600" cy="5675519"/>
          </a:xfrm>
        </p:spPr>
        <p:txBody>
          <a:bodyPr/>
          <a:lstStyle/>
          <a:p>
            <a:r>
              <a:rPr lang="en-IN" dirty="0">
                <a:latin typeface="Times New Roman" panose="02020603050405020304" pitchFamily="18" charset="0"/>
                <a:cs typeface="Times New Roman" panose="02020603050405020304" pitchFamily="18" charset="0"/>
              </a:rPr>
              <a:t>Flow Diagram</a:t>
            </a:r>
          </a:p>
        </p:txBody>
      </p:sp>
      <p:pic>
        <p:nvPicPr>
          <p:cNvPr id="4" name="Picture 3">
            <a:extLst>
              <a:ext uri="{FF2B5EF4-FFF2-40B4-BE49-F238E27FC236}">
                <a16:creationId xmlns:a16="http://schemas.microsoft.com/office/drawing/2014/main" id="{D997DA3F-EFE3-14C8-28CE-D06310AEA6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0073" y="225679"/>
            <a:ext cx="1632002" cy="6294865"/>
          </a:xfrm>
          <a:prstGeom prst="rect">
            <a:avLst/>
          </a:prstGeom>
        </p:spPr>
      </p:pic>
    </p:spTree>
    <p:extLst>
      <p:ext uri="{BB962C8B-B14F-4D97-AF65-F5344CB8AC3E}">
        <p14:creationId xmlns:p14="http://schemas.microsoft.com/office/powerpoint/2010/main" val="11997176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E34F-9059-96BC-D827-8BF579BBFC7D}"/>
              </a:ext>
            </a:extLst>
          </p:cNvPr>
          <p:cNvSpPr>
            <a:spLocks noGrp="1"/>
          </p:cNvSpPr>
          <p:nvPr>
            <p:ph type="title"/>
          </p:nvPr>
        </p:nvSpPr>
        <p:spPr>
          <a:xfrm>
            <a:off x="838200" y="365125"/>
            <a:ext cx="10515600" cy="1011391"/>
          </a:xfrm>
        </p:spPr>
        <p:txBody>
          <a:bodyPr/>
          <a:lstStyle/>
          <a:p>
            <a:r>
              <a:rPr lang="en-IN" dirty="0">
                <a:latin typeface="Times New Roman" panose="02020603050405020304" pitchFamily="18" charset="0"/>
                <a:cs typeface="Times New Roman" panose="02020603050405020304" pitchFamily="18" charset="0"/>
              </a:rPr>
              <a:t>Methods and Techniques</a:t>
            </a:r>
          </a:p>
        </p:txBody>
      </p:sp>
      <p:sp>
        <p:nvSpPr>
          <p:cNvPr id="3" name="Content Placeholder 2">
            <a:extLst>
              <a:ext uri="{FF2B5EF4-FFF2-40B4-BE49-F238E27FC236}">
                <a16:creationId xmlns:a16="http://schemas.microsoft.com/office/drawing/2014/main" id="{17DC104A-D43D-2FA1-CDA5-CC84AC4CC4DF}"/>
              </a:ext>
            </a:extLst>
          </p:cNvPr>
          <p:cNvSpPr>
            <a:spLocks noGrp="1"/>
          </p:cNvSpPr>
          <p:nvPr>
            <p:ph idx="1"/>
          </p:nvPr>
        </p:nvSpPr>
        <p:spPr/>
        <p:txBody>
          <a:bodyPr/>
          <a:lstStyle/>
          <a:p>
            <a:pPr marL="0" indent="0">
              <a:lnSpc>
                <a:spcPct val="100000"/>
              </a:lnSpc>
              <a:spcAft>
                <a:spcPts val="600"/>
              </a:spcAft>
              <a:buNone/>
            </a:pPr>
            <a:r>
              <a:rPr lang="en-US" dirty="0">
                <a:latin typeface="Times New Roman" panose="02020603050405020304" pitchFamily="18" charset="0"/>
                <a:cs typeface="Times New Roman" panose="02020603050405020304" pitchFamily="18" charset="0"/>
              </a:rPr>
              <a:t>• REST API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CRUD operations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Cloud deployment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Authentication system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64814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363A4-6DC3-6636-DB08-7D0CB5E03F7F}"/>
              </a:ext>
            </a:extLst>
          </p:cNvPr>
          <p:cNvSpPr>
            <a:spLocks noGrp="1"/>
          </p:cNvSpPr>
          <p:nvPr>
            <p:ph type="title"/>
          </p:nvPr>
        </p:nvSpPr>
        <p:spPr>
          <a:xfrm>
            <a:off x="838200" y="365125"/>
            <a:ext cx="10515600" cy="991727"/>
          </a:xfrm>
        </p:spPr>
        <p:txBody>
          <a:bodyPr/>
          <a:lstStyle/>
          <a:p>
            <a:r>
              <a:rPr lang="en-IN" dirty="0">
                <a:latin typeface="Times New Roman" panose="02020603050405020304" pitchFamily="18" charset="0"/>
                <a:cs typeface="Times New Roman" panose="02020603050405020304" pitchFamily="18" charset="0"/>
              </a:rPr>
              <a:t>Progress in Project</a:t>
            </a:r>
          </a:p>
        </p:txBody>
      </p:sp>
      <p:sp>
        <p:nvSpPr>
          <p:cNvPr id="3" name="Content Placeholder 2">
            <a:extLst>
              <a:ext uri="{FF2B5EF4-FFF2-40B4-BE49-F238E27FC236}">
                <a16:creationId xmlns:a16="http://schemas.microsoft.com/office/drawing/2014/main" id="{ADACDE26-A4F8-60E2-577E-0DD10C1BB683}"/>
              </a:ext>
            </a:extLst>
          </p:cNvPr>
          <p:cNvSpPr>
            <a:spLocks noGrp="1"/>
          </p:cNvSpPr>
          <p:nvPr>
            <p:ph idx="1"/>
          </p:nvPr>
        </p:nvSpPr>
        <p:spPr/>
        <p:txBody>
          <a:bodyPr/>
          <a:lstStyle/>
          <a:p>
            <a:pPr>
              <a:lnSpc>
                <a:spcPct val="100000"/>
              </a:lnSpc>
              <a:spcAft>
                <a:spcPts val="600"/>
              </a:spcAft>
            </a:pPr>
            <a:r>
              <a:rPr lang="en-US" dirty="0">
                <a:latin typeface="Times New Roman" panose="02020603050405020304" pitchFamily="18" charset="0"/>
                <a:cs typeface="Times New Roman" panose="02020603050405020304" pitchFamily="18" charset="0"/>
              </a:rPr>
              <a:t>Phase 1: Development  </a:t>
            </a:r>
          </a:p>
          <a:p>
            <a:pPr>
              <a:lnSpc>
                <a:spcPct val="100000"/>
              </a:lnSpc>
              <a:spcAft>
                <a:spcPts val="600"/>
              </a:spcAft>
            </a:pPr>
            <a:r>
              <a:rPr lang="en-US" dirty="0">
                <a:latin typeface="Times New Roman" panose="02020603050405020304" pitchFamily="18" charset="0"/>
                <a:cs typeface="Times New Roman" panose="02020603050405020304" pitchFamily="18" charset="0"/>
              </a:rPr>
              <a:t>Phase 2: Testing  </a:t>
            </a:r>
          </a:p>
          <a:p>
            <a:pPr>
              <a:lnSpc>
                <a:spcPct val="100000"/>
              </a:lnSpc>
              <a:spcAft>
                <a:spcPts val="600"/>
              </a:spcAft>
            </a:pPr>
            <a:r>
              <a:rPr lang="en-US" dirty="0">
                <a:latin typeface="Times New Roman" panose="02020603050405020304" pitchFamily="18" charset="0"/>
                <a:cs typeface="Times New Roman" panose="02020603050405020304" pitchFamily="18" charset="0"/>
              </a:rPr>
              <a:t>Phase 3: Deployment  </a:t>
            </a:r>
          </a:p>
          <a:p>
            <a:pPr>
              <a:lnSpc>
                <a:spcPct val="100000"/>
              </a:lnSpc>
              <a:spcAft>
                <a:spcPts val="600"/>
              </a:spcAft>
            </a:pPr>
            <a:r>
              <a:rPr lang="en-US" dirty="0">
                <a:latin typeface="Times New Roman" panose="02020603050405020304" pitchFamily="18" charset="0"/>
                <a:cs typeface="Times New Roman" panose="02020603050405020304" pitchFamily="18" charset="0"/>
              </a:rPr>
              <a:t>Phase 4: Finalization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5687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25D3D-0AAB-5F05-FB19-58C9BEB320C3}"/>
              </a:ext>
            </a:extLst>
          </p:cNvPr>
          <p:cNvSpPr>
            <a:spLocks noGrp="1"/>
          </p:cNvSpPr>
          <p:nvPr>
            <p:ph type="title"/>
          </p:nvPr>
        </p:nvSpPr>
        <p:spPr>
          <a:xfrm>
            <a:off x="838200" y="365126"/>
            <a:ext cx="10515600" cy="1050720"/>
          </a:xfrm>
        </p:spPr>
        <p:txBody>
          <a:bodyPr/>
          <a:lstStyle/>
          <a:p>
            <a:r>
              <a:rPr lang="en-IN" dirty="0">
                <a:latin typeface="Times New Roman" panose="02020603050405020304" pitchFamily="18" charset="0"/>
                <a:cs typeface="Times New Roman" panose="02020603050405020304" pitchFamily="18" charset="0"/>
              </a:rPr>
              <a:t>Outcome / Results</a:t>
            </a:r>
          </a:p>
        </p:txBody>
      </p:sp>
      <p:sp>
        <p:nvSpPr>
          <p:cNvPr id="3" name="Content Placeholder 2">
            <a:extLst>
              <a:ext uri="{FF2B5EF4-FFF2-40B4-BE49-F238E27FC236}">
                <a16:creationId xmlns:a16="http://schemas.microsoft.com/office/drawing/2014/main" id="{4653C404-3BC5-DFE6-9D5D-D76B23598AFB}"/>
              </a:ext>
            </a:extLst>
          </p:cNvPr>
          <p:cNvSpPr>
            <a:spLocks noGrp="1"/>
          </p:cNvSpPr>
          <p:nvPr>
            <p:ph idx="1"/>
          </p:nvPr>
        </p:nvSpPr>
        <p:spPr>
          <a:xfrm>
            <a:off x="838200" y="2153264"/>
            <a:ext cx="10515600" cy="4102357"/>
          </a:xfrm>
        </p:spPr>
        <p:txBody>
          <a:bodyPr/>
          <a:lstStyle/>
          <a:p>
            <a:pPr marL="0" indent="0" algn="just">
              <a:buNone/>
            </a:pPr>
            <a:r>
              <a:rPr lang="en-US" dirty="0">
                <a:latin typeface="Times New Roman" panose="02020603050405020304" pitchFamily="18" charset="0"/>
                <a:cs typeface="Times New Roman" panose="02020603050405020304" pitchFamily="18" charset="0"/>
              </a:rPr>
              <a:t>	A fully functional cloud-based finance tracker accessible via public IP with real-time database integration.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57166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B9C31-5E97-C3E0-4695-BA68E39F0FB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233BDAD3-CAB5-3569-93B8-90CEF6B96D55}"/>
              </a:ext>
            </a:extLst>
          </p:cNvPr>
          <p:cNvSpPr>
            <a:spLocks noGrp="1"/>
          </p:cNvSpPr>
          <p:nvPr>
            <p:ph idx="1"/>
          </p:nvPr>
        </p:nvSpPr>
        <p:spPr>
          <a:xfrm>
            <a:off x="838200" y="2241755"/>
            <a:ext cx="10515600" cy="3935208"/>
          </a:xfrm>
        </p:spPr>
        <p:txBody>
          <a:bodyPr/>
          <a:lstStyle/>
          <a:p>
            <a:pPr marL="0" indent="0" algn="just">
              <a:buNone/>
            </a:pPr>
            <a:r>
              <a:rPr lang="en-US" dirty="0">
                <a:latin typeface="Times New Roman" panose="02020603050405020304" pitchFamily="18" charset="0"/>
                <a:cs typeface="Times New Roman" panose="02020603050405020304" pitchFamily="18" charset="0"/>
              </a:rPr>
              <a:t>	The project successfully demonstrates the deployment of a web application on AWS. It highlights the importance of cloud computing in modern application development and provides a scalable solution for financial tracking.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70040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9D165-398E-92EF-8630-2A6CCA1C9D86}"/>
              </a:ext>
            </a:extLst>
          </p:cNvPr>
          <p:cNvSpPr>
            <a:spLocks noGrp="1"/>
          </p:cNvSpPr>
          <p:nvPr>
            <p:ph type="title"/>
          </p:nvPr>
        </p:nvSpPr>
        <p:spPr>
          <a:xfrm>
            <a:off x="838200" y="365126"/>
            <a:ext cx="10515600" cy="1109714"/>
          </a:xfrm>
        </p:spPr>
        <p:txBody>
          <a:bodyPr/>
          <a:lstStyle/>
          <a:p>
            <a:r>
              <a:rPr lang="en-IN"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8F450C0A-1766-672C-AD82-34053351420D}"/>
              </a:ext>
            </a:extLst>
          </p:cNvPr>
          <p:cNvSpPr>
            <a:spLocks noGrp="1"/>
          </p:cNvSpPr>
          <p:nvPr>
            <p:ph idx="1"/>
          </p:nvPr>
        </p:nvSpPr>
        <p:spPr>
          <a:xfrm>
            <a:off x="838200" y="2094271"/>
            <a:ext cx="10515600" cy="4082692"/>
          </a:xfrm>
        </p:spPr>
        <p:txBody>
          <a:bodyPr/>
          <a:lstStyle/>
          <a:p>
            <a:pPr marL="0" indent="0">
              <a:lnSpc>
                <a:spcPct val="100000"/>
              </a:lnSpc>
              <a:spcAft>
                <a:spcPts val="600"/>
              </a:spcAft>
              <a:buNone/>
            </a:pPr>
            <a:r>
              <a:rPr lang="fr-FR" dirty="0">
                <a:latin typeface="Times New Roman" panose="02020603050405020304" pitchFamily="18" charset="0"/>
                <a:cs typeface="Times New Roman" panose="02020603050405020304" pitchFamily="18" charset="0"/>
              </a:rPr>
              <a:t>• AWS Documentation </a:t>
            </a:r>
            <a:br>
              <a:rPr lang="fr-FR" dirty="0">
                <a:latin typeface="Times New Roman" panose="02020603050405020304" pitchFamily="18" charset="0"/>
                <a:cs typeface="Times New Roman" panose="02020603050405020304" pitchFamily="18" charset="0"/>
              </a:rPr>
            </a:br>
            <a:r>
              <a:rPr lang="fr-FR" dirty="0">
                <a:latin typeface="Times New Roman" panose="02020603050405020304" pitchFamily="18" charset="0"/>
                <a:cs typeface="Times New Roman" panose="02020603050405020304" pitchFamily="18" charset="0"/>
              </a:rPr>
              <a:t>• MongoDB Atlas Docs </a:t>
            </a:r>
            <a:br>
              <a:rPr lang="fr-FR" dirty="0">
                <a:latin typeface="Times New Roman" panose="02020603050405020304" pitchFamily="18" charset="0"/>
                <a:cs typeface="Times New Roman" panose="02020603050405020304" pitchFamily="18" charset="0"/>
              </a:rPr>
            </a:br>
            <a:r>
              <a:rPr lang="fr-FR" dirty="0">
                <a:latin typeface="Times New Roman" panose="02020603050405020304" pitchFamily="18" charset="0"/>
                <a:cs typeface="Times New Roman" panose="02020603050405020304" pitchFamily="18" charset="0"/>
              </a:rPr>
              <a:t>• Node.js Documentation </a:t>
            </a:r>
            <a:br>
              <a:rPr lang="fr-FR" dirty="0">
                <a:latin typeface="Times New Roman" panose="02020603050405020304" pitchFamily="18" charset="0"/>
                <a:cs typeface="Times New Roman" panose="02020603050405020304" pitchFamily="18" charset="0"/>
              </a:rPr>
            </a:br>
            <a:r>
              <a:rPr lang="fr-FR" dirty="0">
                <a:latin typeface="Times New Roman" panose="02020603050405020304" pitchFamily="18" charset="0"/>
                <a:cs typeface="Times New Roman" panose="02020603050405020304" pitchFamily="18" charset="0"/>
              </a:rPr>
              <a:t>• Express.js Documentation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92782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Circuit</Template>
  <TotalTime>68</TotalTime>
  <Words>700</Words>
  <Application>Microsoft Office PowerPoint</Application>
  <PresentationFormat>Widescreen</PresentationFormat>
  <Paragraphs>61</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Times New Roman</vt:lpstr>
      <vt:lpstr>Tw Cen MT</vt:lpstr>
      <vt:lpstr>Circuit</vt:lpstr>
      <vt:lpstr>Cloud-Based Finance Tracker Web Application</vt:lpstr>
      <vt:lpstr>Contents </vt:lpstr>
      <vt:lpstr>Abstract</vt:lpstr>
      <vt:lpstr>Introduction</vt:lpstr>
      <vt:lpstr>Objective of the Study</vt:lpstr>
      <vt:lpstr>Problem Definition</vt:lpstr>
      <vt:lpstr>Scope of the Study</vt:lpstr>
      <vt:lpstr>Literature Review</vt:lpstr>
      <vt:lpstr>Methodology </vt:lpstr>
      <vt:lpstr>Experimental Setup</vt:lpstr>
      <vt:lpstr>Analysis and Interpretation</vt:lpstr>
      <vt:lpstr>Results / Findings</vt:lpstr>
      <vt:lpstr>Consolidation Table</vt:lpstr>
      <vt:lpstr>Discussion</vt:lpstr>
      <vt:lpstr>Proposed System</vt:lpstr>
      <vt:lpstr>Feasibility Study</vt:lpstr>
      <vt:lpstr>Design / Workflow</vt:lpstr>
      <vt:lpstr>Diagrams </vt:lpstr>
      <vt:lpstr>PowerPoint Presentation</vt:lpstr>
      <vt:lpstr>Methods and Techniques</vt:lpstr>
      <vt:lpstr>Progress in Project</vt:lpstr>
      <vt:lpstr>Outcome / Results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vidwath kumar</dc:creator>
  <cp:lastModifiedBy>vidwath kumar</cp:lastModifiedBy>
  <cp:revision>4</cp:revision>
  <dcterms:created xsi:type="dcterms:W3CDTF">2026-04-16T12:16:00Z</dcterms:created>
  <dcterms:modified xsi:type="dcterms:W3CDTF">2026-04-16T13:30:14Z</dcterms:modified>
</cp:coreProperties>
</file>